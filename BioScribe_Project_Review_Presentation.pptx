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64008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6858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  <a:latin typeface="Times New Roman"/>
              </a:defRPr>
            </a:pPr>
            <a:r>
              <a:t>EASWARI ENGINEERING COLLEGE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Times New Roman"/>
              </a:defRPr>
            </a:pPr>
            <a:r>
              <a:t>(Autonomous Institution, Affiliated to Anna University, Chennai)</a:t>
            </a:r>
          </a:p>
          <a:p>
            <a:pPr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Department of Artificial Intelligence and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971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1E2D"/>
                </a:solidFill>
                <a:latin typeface="Times New Roman"/>
              </a:defRPr>
            </a:pPr>
            <a:r>
              <a:t>BIOSCRIBE ELECTRONIC LABORATORY NOTEBOOK (ELN)</a:t>
            </a:r>
          </a:p>
          <a:p>
            <a:pPr algn="ctr">
              <a:spcBef>
                <a:spcPts val="400"/>
              </a:spcBef>
              <a:defRPr sz="1700">
                <a:solidFill>
                  <a:srgbClr val="0D7A82"/>
                </a:solidFill>
                <a:latin typeface="Times New Roman"/>
              </a:defRPr>
            </a:pPr>
            <a:r>
              <a:t>A MERN Stack Research &amp; Batch Formulation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526280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400"/>
              </a:spcAft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Under the Guidance of</a:t>
            </a:r>
          </a:p>
          <a:p>
            <a:pPr>
              <a:spcAft>
                <a:spcPts val="200"/>
              </a:spcAft>
              <a:defRPr sz="1800" b="1">
                <a:solidFill>
                  <a:srgbClr val="141E2D"/>
                </a:solidFill>
                <a:latin typeface="Times New Roman"/>
              </a:defRPr>
            </a:pPr>
            <a:r>
              <a:t>Ms. D S K Harshitha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Technical Trainer, AIADS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526280"/>
            <a:ext cx="41148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400"/>
              </a:spcAft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Presented By</a:t>
            </a:r>
          </a:p>
          <a:p>
            <a:pPr>
              <a:spcAft>
                <a:spcPts val="200"/>
              </a:spcAft>
              <a:defRPr sz="1800" b="1">
                <a:solidFill>
                  <a:srgbClr val="141E2D"/>
                </a:solidFill>
                <a:latin typeface="Times New Roman"/>
              </a:defRPr>
            </a:pPr>
            <a:r>
              <a:t>Kamalesh G (310624243074)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B.Tech - Artificial Intelligence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A     G     E     N     D    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Presentation Scope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899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8046720" cy="4480560"/>
          </a:xfrm>
          <a:prstGeom prst="round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Requirements (Functional &amp; Non-Functional)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Detailed System Architecture (3-Tier MERN)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Use Case &amp; ER Diagrams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Module Description &amp; Tech Stack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UI Design, Frontend &amp; Backend Build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Database, API Integration &amp; Status (100% Complete)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▪   Key System Improvements &amp; Enhancements Implemented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R     E     Q     U     I     R     E     M     E     N     T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Functional &amp; 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6636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200"/>
              </a:spcAft>
              <a:defRPr sz="1800" b="1">
                <a:solidFill>
                  <a:srgbClr val="0D7A82"/>
                </a:solidFill>
                <a:latin typeface="Times New Roman"/>
              </a:defRPr>
            </a:pPr>
            <a:r>
              <a:t>Functional Requirements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User registration &amp; role-based authentication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Protocol management with immutable versioning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Batch stoichiometry &amp; dynamic reagent calculator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Step-by-step observation and data logging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Multi-stage peer review &amp; electronic sign-off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Tamper-evident audit ledger with timestamps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600200"/>
            <a:ext cx="516636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200"/>
              </a:spcAft>
              <a:defRPr sz="1800" b="1">
                <a:solidFill>
                  <a:srgbClr val="0D7A82"/>
                </a:solidFill>
                <a:latin typeface="Times New Roman"/>
              </a:defRPr>
            </a:pPr>
            <a:r>
              <a:t>Non-Functional Requirements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Performance: UI &amp; API response time &lt; 500 ms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Security: Salted bcrypt &amp; stateless JWT tokens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Integrity: SHA-256 cryptographic version hashing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Usability: Responsive UI with Light &amp; Dark themes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Reliability: Resilient MongoDB document storage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Maintainability: Modular MVC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A     R     C     H     I     T     E     C     T     U     R    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System Architecture (Detailed 3-Tier MERN)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108960" cy="31089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CLIENT TIER</a:t>
            </a:r>
            <a:br/>
            <a:r>
              <a:t>(Frontend)</a:t>
            </a:r>
          </a:p>
          <a:p>
            <a:pPr algn="ctr"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• React 18 Single Page App</a:t>
            </a:r>
            <a:br/>
            <a:r>
              <a:t>• Tailwind CSS &amp; Lucide Icons</a:t>
            </a:r>
            <a:br/>
            <a:r>
              <a:t>• Context API (Auth &amp; Theme)</a:t>
            </a:r>
            <a:br/>
            <a:r>
              <a:t>• Axios REST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⇄</a:t>
            </a:r>
            <a:br/>
            <a:r>
              <a:t>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3108960" cy="3108960"/>
          </a:xfrm>
          <a:prstGeom prst="round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APPLICATION TIER</a:t>
            </a:r>
            <a:br/>
            <a:r>
              <a:t>(Backend Server)</a:t>
            </a:r>
          </a:p>
          <a:p>
            <a:pPr algn="ctr"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• Node.js &amp; Express.js</a:t>
            </a:r>
            <a:br/>
            <a:r>
              <a:t>• Modular MVC Controllers</a:t>
            </a:r>
            <a:br/>
            <a:r>
              <a:t>• JWT Auth &amp; Role Guards</a:t>
            </a:r>
            <a:br/>
            <a:r>
              <a:t>• SHA-256 Hashing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⇄</a:t>
            </a:r>
            <a:br/>
            <a:r>
              <a:t>ODM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645920"/>
            <a:ext cx="3108960" cy="310896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DATA TIER</a:t>
            </a:r>
            <a:br/>
            <a:r>
              <a:t>(Database)</a:t>
            </a:r>
          </a:p>
          <a:p>
            <a:pPr algn="ctr"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• MongoDB 7.0 Database</a:t>
            </a:r>
            <a:br/>
            <a:r>
              <a:t>• Mongoose Schemas &amp; Models</a:t>
            </a:r>
            <a:br/>
            <a:r>
              <a:t>• Embedded Subdocuments</a:t>
            </a:r>
            <a:br/>
            <a:r>
              <a:t>• Indexed Field Lookups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200"/>
              </a:spcAft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End-to-End MERN Data Flow:</a:t>
            </a:r>
          </a:p>
          <a:p>
            <a:pPr algn="l"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React Client (HTTP/REST) ➔ Express Middleware (JWT Auth) ➔ MVC Controller ➔ Mongoose ODM ➔ MongoDB Database (JSON Response)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U     S     E           C     A     S    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Use Case Diagram &amp; Actor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62179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System Use Case Diagram (Actors &amp; Boundary)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240280"/>
            <a:ext cx="1600200" cy="594360"/>
          </a:xfrm>
          <a:prstGeom prst="round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👤 Researcher</a:t>
            </a:r>
            <a:br/>
            <a:r>
              <a:t>(Lab Scientist)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383280"/>
            <a:ext cx="1600200" cy="594360"/>
          </a:xfrm>
          <a:prstGeom prst="round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👤 Reviewer</a:t>
            </a:r>
            <a:br/>
            <a:r>
              <a:t>(Principal Inv.)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526280"/>
            <a:ext cx="1600200" cy="594360"/>
          </a:xfrm>
          <a:prstGeom prst="roundRect">
            <a:avLst/>
          </a:prstGeom>
          <a:solidFill>
            <a:srgbClr val="14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👤 QA Compliance</a:t>
            </a:r>
            <a:br/>
            <a:r>
              <a:t>(Admin Manager)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194560"/>
            <a:ext cx="41148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2D"/>
                </a:solidFill>
                <a:latin typeface="Times New Roman"/>
              </a:defRPr>
            </a:pPr>
            <a:r>
              <a:t>Login &amp; JWT Session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834640"/>
            <a:ext cx="41148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2D"/>
                </a:solidFill>
                <a:latin typeface="Times New Roman"/>
              </a:defRPr>
            </a:pPr>
            <a:r>
              <a:t>Create Protocol &amp; Commit 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474720"/>
            <a:ext cx="41148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2D"/>
                </a:solidFill>
                <a:latin typeface="Times New Roman"/>
              </a:defRPr>
            </a:pPr>
            <a:r>
              <a:t>Calculate Stoichiometric Scaling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4114800"/>
            <a:ext cx="41148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2D"/>
                </a:solidFill>
                <a:latin typeface="Times New Roman"/>
              </a:defRPr>
            </a:pPr>
            <a:r>
              <a:t>Record Step Observations &amp;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754880"/>
            <a:ext cx="41148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2D"/>
                </a:solidFill>
                <a:latin typeface="Times New Roman"/>
              </a:defRPr>
            </a:pPr>
            <a:r>
              <a:t>Peer Review &amp; Electronic Sign-off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5394960"/>
            <a:ext cx="41148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1E2D"/>
                </a:solidFill>
                <a:latin typeface="Times New Roman"/>
              </a:defRPr>
            </a:pPr>
            <a:r>
              <a:t>Inspect Tamper-Proof Audit Trail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651760" y="2432304"/>
            <a:ext cx="502920" cy="100584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2532888"/>
            <a:ext cx="502920" cy="539496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2532888"/>
            <a:ext cx="502920" cy="1179575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51760" y="2532888"/>
            <a:ext cx="502920" cy="1819656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651760" y="2432304"/>
            <a:ext cx="502920" cy="1243583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51760" y="3675887"/>
            <a:ext cx="502920" cy="1316737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51760" y="2432304"/>
            <a:ext cx="502920" cy="2386584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51760" y="4818888"/>
            <a:ext cx="502920" cy="173736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51760" y="4818888"/>
            <a:ext cx="502920" cy="813816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8120" y="1600200"/>
            <a:ext cx="365760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200"/>
              </a:spcAft>
              <a:defRPr sz="1800" b="1">
                <a:solidFill>
                  <a:srgbClr val="0D7A82"/>
                </a:solidFill>
                <a:latin typeface="Times New Roman"/>
              </a:defRPr>
            </a:pPr>
            <a:r>
              <a:t>Key Use Case Details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Actors: Researcher, Reviewer, QA Manager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Role separation: authoring vs. approval workflows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All mutations require authentication &amp; audit logs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Protocol commits include SHA-256 computation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System boundary protected by Express JWT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E     R           D     I     A     G     R     A    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ER Diagram / Database Schema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ER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62179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MongoDB Collections &amp; Schema Relationships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94560"/>
            <a:ext cx="30175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lIns="164592"/>
          <a:lstStyle/>
          <a:p>
            <a:pPr algn="ctr">
              <a:spcAft>
                <a:spcPts val="300"/>
              </a:spcAft>
              <a:defRPr sz="1400" b="1">
                <a:solidFill>
                  <a:srgbClr val="0D7A82"/>
                </a:solidFill>
                <a:latin typeface="Times New Roman"/>
              </a:defRPr>
            </a:pPr>
            <a:r>
              <a:t>📂 Users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_id: ObjectId (PK)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name, email, role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department, passwordHash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status: active/locked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94560"/>
            <a:ext cx="30175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lIns="164592"/>
          <a:lstStyle/>
          <a:p>
            <a:pPr algn="ctr">
              <a:spcAft>
                <a:spcPts val="300"/>
              </a:spcAft>
              <a:defRPr sz="1400" b="1">
                <a:solidFill>
                  <a:srgbClr val="0D7A82"/>
                </a:solidFill>
                <a:latin typeface="Times New Roman"/>
              </a:defRPr>
            </a:pPr>
            <a:r>
              <a:t>📂 Experiments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_id: ObjectId (PK)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projectId: ObjectId (FK)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title, status, createdBy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currentVersion, 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069080"/>
            <a:ext cx="30175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lIns="164592"/>
          <a:lstStyle/>
          <a:p>
            <a:pPr algn="ctr">
              <a:spcAft>
                <a:spcPts val="300"/>
              </a:spcAft>
              <a:defRPr sz="1400" b="1">
                <a:solidFill>
                  <a:srgbClr val="0D7A82"/>
                </a:solidFill>
                <a:latin typeface="Times New Roman"/>
              </a:defRPr>
            </a:pPr>
            <a:r>
              <a:t>📂 ExperimentVersions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_id: ObjectId (PK)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experimentId: ObjectId (FK)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versionNumber, protocol[]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versionHash (SHA-256)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69080"/>
            <a:ext cx="30175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09728" lIns="164592"/>
          <a:lstStyle/>
          <a:p>
            <a:pPr algn="ctr">
              <a:spcAft>
                <a:spcPts val="300"/>
              </a:spcAft>
              <a:defRPr sz="1400" b="1">
                <a:solidFill>
                  <a:srgbClr val="0D7A82"/>
                </a:solidFill>
                <a:latin typeface="Times New Roman"/>
              </a:defRPr>
            </a:pPr>
            <a:r>
              <a:t>📂 Approvals &amp; Audits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_id: ObjectId (PK)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experimentId, reviewerId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status, signatureDigest</a:t>
            </a:r>
          </a:p>
          <a:p>
            <a:pPr algn="l"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• checksum, timestamp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3035808"/>
            <a:ext cx="228600" cy="0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60320" y="3383280"/>
            <a:ext cx="1737360" cy="685800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06440" y="3886200"/>
            <a:ext cx="0" cy="182880"/>
          </a:xfrm>
          <a:prstGeom prst="line">
            <a:avLst/>
          </a:prstGeom>
          <a:ln w="1587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1600200"/>
            <a:ext cx="365760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200"/>
              </a:spcAft>
              <a:defRPr sz="1800" b="1">
                <a:solidFill>
                  <a:srgbClr val="0D7A82"/>
                </a:solidFill>
                <a:latin typeface="Times New Roman"/>
              </a:defRPr>
            </a:pPr>
            <a:r>
              <a:t>Database Design Highlights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4 Core collections: Users, Experiments, Versions, Audits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Primary keys: 128-bit MongoDB ObjectIds (_id)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Referencing: Normalized ObjectId links (1:N)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Embedding: Reagent arrays &amp; protocol steps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Compound indexing on { experimentId, version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M     O     D     U     L     E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Module Description &amp; Core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3962095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Functions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User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Secure authentication &amp; role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Signup, Login, JWT auth, Role guards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Protocol Versioning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Immutable version commits &amp; diffs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Create, branch, SHA-256 hash, Diff viewer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Stoichiometry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Formulation mass and molar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Concentration math, Batch scaling multiplier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Digital Sign-Off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Multi-stage scientific review pipeline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Submit, review, electronic sign &amp; lock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Audit Ledger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Tamper-evident activity logging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Log event, checksum, chronological audit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T     E     C     H           S     T     A     C    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Comprehensive MERN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200"/>
              </a:spcAft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MongoDB</a:t>
            </a:r>
          </a:p>
          <a:p>
            <a:pPr>
              <a:spcAft>
                <a:spcPts val="400"/>
              </a:spcAft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NoSQL Database</a:t>
            </a:r>
          </a:p>
          <a:p>
            <a:pPr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Document-oriented database with flexible BSON schema &amp; Mongoose ODM.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45920"/>
            <a:ext cx="2514600" cy="201168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200"/>
              </a:spcAft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Express.js</a:t>
            </a:r>
          </a:p>
          <a:p>
            <a:pPr>
              <a:spcAft>
                <a:spcPts val="400"/>
              </a:spcAft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Backend Framework</a:t>
            </a:r>
          </a:p>
          <a:p>
            <a:pPr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Minimalist Node.js framework powering REST API routing &amp; middleware.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201168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200"/>
              </a:spcAft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React.js</a:t>
            </a:r>
          </a:p>
          <a:p>
            <a:pPr>
              <a:spcAft>
                <a:spcPts val="400"/>
              </a:spcAft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Frontend Library</a:t>
            </a:r>
          </a:p>
          <a:p>
            <a:pPr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Modern component UI with functional hooks, Context API, and Virtual DOM.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645920"/>
            <a:ext cx="2514600" cy="201168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200"/>
              </a:spcAft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Node.js</a:t>
            </a:r>
          </a:p>
          <a:p>
            <a:pPr>
              <a:spcAft>
                <a:spcPts val="400"/>
              </a:spcAft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Runtime Environment</a:t>
            </a:r>
          </a:p>
          <a:p>
            <a:pPr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Asynchronous, event-driven JavaScript V8 runtime for backend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728655" cy="2286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800"/>
              </a:spcAft>
              <a:defRPr sz="1700" b="1">
                <a:solidFill>
                  <a:srgbClr val="0D7A82"/>
                </a:solidFill>
                <a:latin typeface="Times New Roman"/>
              </a:defRPr>
            </a:pPr>
            <a:r>
              <a:t>Supporting Tools &amp; Libraries:</a:t>
            </a:r>
          </a:p>
          <a:p>
            <a:pPr algn="l">
              <a:spcAft>
                <a:spcPts val="4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Mongoose: Object Data Modeling (ODM) with validation &amp; hooks</a:t>
            </a:r>
          </a:p>
          <a:p>
            <a:pPr algn="l">
              <a:spcAft>
                <a:spcPts val="4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JWT &amp; bcrypt: Stateless token authentication and salted password hashing</a:t>
            </a:r>
          </a:p>
          <a:p>
            <a:pPr algn="l">
              <a:spcAft>
                <a:spcPts val="4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Tailwind CSS &amp; Lucide Icons: Responsive UI system with Light/Dark themes</a:t>
            </a:r>
          </a:p>
          <a:p>
            <a:pPr algn="l">
              <a:spcAft>
                <a:spcPts val="4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Vite &amp; Axios: Fast frontend development build tool and REST HTTP client</a:t>
            </a:r>
          </a:p>
          <a:p>
            <a:pPr algn="l">
              <a:spcAft>
                <a:spcPts val="4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Postman &amp; Git: REST API endpoint testing and collaborative version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U     I           D     E     S     I     G   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UI Design &amp; Responsive Layout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UI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62179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Clinical Laboratory User Interface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solidFill>
            <a:srgbClr val="EBF5F4"/>
          </a:solidFill>
          <a:ln w="12700">
            <a:solidFill>
              <a:srgbClr val="0D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🧪 BioScribe ELN  |  Active: Dr. Kamalesh (Researcher)  |  ☀️/🌙 Theme  |  🔒 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97480"/>
            <a:ext cx="1737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NAVIGATION</a:t>
            </a:r>
            <a:br/>
            <a:br/>
            <a:r>
              <a:t>• Dashboard</a:t>
            </a:r>
            <a:br/>
            <a:r>
              <a:t>• Experiments</a:t>
            </a:r>
            <a:br/>
            <a:r>
              <a:t>• Formulations</a:t>
            </a:r>
            <a:br/>
            <a:r>
              <a:t>• Approvals</a:t>
            </a:r>
            <a:br/>
            <a:r>
              <a:t>• Audit Ledger</a:t>
            </a:r>
            <a:br/>
            <a:br/>
            <a:r>
              <a:t>INTEGRITY</a:t>
            </a:r>
            <a:br/>
            <a:r>
              <a:t>• SHA-256 Ledger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697480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LABORATORY WORKSPACE</a:t>
            </a:r>
            <a:br/>
            <a:br/>
            <a:r>
              <a:t>[ Metric Cards: Protocols (23) | Pending (1) | Formulations (5) ]</a:t>
            </a:r>
            <a:br/>
            <a:br/>
            <a:r>
              <a:t>[ Protocol Version Control &amp; Diff Inspector ]</a:t>
            </a:r>
            <a:br/>
            <a:r>
              <a:t>• Side-by-side protocol comparison (v1.0 vs v1.1)</a:t>
            </a:r>
            <a:br/>
            <a:r>
              <a:t>• SHA-256 Fingerprint: bd386802c1a4b7896...</a:t>
            </a:r>
            <a:br/>
            <a:br/>
            <a:r>
              <a:t>[ Dynamic Batch Stoichiometry Matrix ]</a:t>
            </a:r>
            <a:br/>
            <a:r>
              <a:t>• Interactive Reagent Scaling Slider (10 mL to 10,000 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600200"/>
            <a:ext cx="3657600" cy="45720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200"/>
              </a:spcAft>
              <a:defRPr sz="1800" b="1">
                <a:solidFill>
                  <a:srgbClr val="0D7A82"/>
                </a:solidFill>
                <a:latin typeface="Times New Roman"/>
              </a:defRPr>
            </a:pPr>
            <a:r>
              <a:t>UI Design Philosophy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Clinical layout: Clutter-free lab workspace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Light &amp; Dark theme: Instant toggle persisted in localStorage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Responsive design: Optimized for desktop &amp; tablet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Visual feedback: Clear status badges and role cues</a:t>
            </a:r>
          </a:p>
          <a:p>
            <a:pPr algn="l">
              <a:spcAft>
                <a:spcPts val="1000"/>
              </a:spcAft>
              <a:defRPr sz="1500">
                <a:solidFill>
                  <a:srgbClr val="1E293B"/>
                </a:solidFill>
                <a:latin typeface="Times New Roman"/>
              </a:defRPr>
            </a:pPr>
            <a:r>
              <a:t>▪   Fast interactions: Instant recalculation and diffs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F     R     O     N     T     E     N    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Frontend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36576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Built with React 18 using functional components &amp; modern React Hooks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Component-based modular structure: Navbar, Sidebar, Cards, Tables, Modals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State management handled via React Context API (Auth, Theme, Notifications)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Client-side routing implemented with protected role guards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Axios HTTP client configured to consume backend REST endpoints with JWT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Responsive UI styled with Tailwind CSS (Light &amp; Dark theme toggle)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728655" cy="731520"/>
          </a:xfrm>
          <a:prstGeom prst="roundRect">
            <a:avLst/>
          </a:prstGeom>
          <a:solidFill>
            <a:srgbClr val="EBF5F4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defRPr sz="1500" b="1">
                <a:solidFill>
                  <a:srgbClr val="0D7A82"/>
                </a:solidFill>
                <a:latin typeface="Times New Roman"/>
              </a:defRPr>
            </a:pPr>
            <a:r>
              <a:t>Completed Screens: Login, Dashboard, Protocol Editor, Recipe Calculator, Audit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B     A     C     K     E     N    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Backend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36576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Node.js + Express.js server organized following modular MVC pattern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Dedicated modular routes: Auth, Experiments, Formulations, Approvals, Audit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Authentication &amp; role authorization middleware using stateless JWT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Cryptographic version hashing engine using Node.js crypto (SHA-256)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Input validation, parameterized route handling &amp; centralized error middleware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Backend REST endpoints verified and tested locally with Postman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728655" cy="731520"/>
          </a:xfrm>
          <a:prstGeom prst="roundRect">
            <a:avLst/>
          </a:prstGeom>
          <a:solidFill>
            <a:srgbClr val="EBF5F4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defRPr sz="1500" b="1">
                <a:solidFill>
                  <a:srgbClr val="0D7A82"/>
                </a:solidFill>
                <a:latin typeface="Times New Roman"/>
              </a:defRPr>
            </a:pPr>
            <a:r>
              <a:t>Middleware Pipeline: cors ➔ helmet ➔ compression ➔ express.json ➔ authMiddleware ➔ Controller.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D     A     T     A     B     A     S    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Database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36576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MongoDB 7.0 document database used as primary data store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Mongoose schemas defined with strict data validation rules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Relationships modeled via ObjectId referencing and embedded subdocuments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High-performance compound indexing on { experimentId, version }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Atomic CRUD operations connected end-to-end with Express backend</a:t>
            </a:r>
          </a:p>
          <a:p>
            <a:pPr algn="l">
              <a:spcAft>
                <a:spcPts val="10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▪   Sample laboratory experimental records seeded for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728655" cy="731520"/>
          </a:xfrm>
          <a:prstGeom prst="roundRect">
            <a:avLst/>
          </a:prstGeom>
          <a:solidFill>
            <a:srgbClr val="EBF5F4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l">
              <a:defRPr sz="1500" b="1">
                <a:solidFill>
                  <a:srgbClr val="0D7A82"/>
                </a:solidFill>
                <a:latin typeface="Times New Roman"/>
              </a:defRPr>
            </a:pPr>
            <a:r>
              <a:t>Active Collections: users, experiments, experiment_versions, audit_logs.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A     P    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API Development &amp; Endpoint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5790895"/>
              </a:tblGrid>
              <a:tr h="627017"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/api/auth/login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Authenticate user &amp; issue signed JWT bearer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/api/experiments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Fetch all active laboratory experiments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/api/experiments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Create a new laboratory experiment protocol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/api/experiments/:id/commit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Commit immutable version revision with SHA-256 hash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/api/formulations/scale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Calculate stoichiometric reagent batch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/api/approvals/sign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Execute digital signature and lock protocol approval state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S     T     A     T     U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Module-wise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User Authentication &amp; Role-Based 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82496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682496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1645920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Frontend Clinical UI &amp; Theming (Light/Dark)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304288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304288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2267712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89504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Stoichiometric Batch Scaling Matrix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926080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2926080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2889504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11296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Protocol Versioning &amp; SHA-256 Commit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547872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0" y="3547872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3511296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33088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Backend REST APIs &amp; MVC Controllers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169664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3520" y="4169664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4133088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Certified PDF Export, Barcode Station &amp; 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4791456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0" y="4791456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4754880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76672"/>
            <a:ext cx="4389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141E2D"/>
                </a:solidFill>
                <a:latin typeface="Times New Roman"/>
              </a:defRPr>
            </a:pPr>
            <a:r>
              <a:t>Digital Sign-off &amp; Tamper-Evident Audit Ledger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5413248"/>
            <a:ext cx="5303520" cy="256032"/>
          </a:xfrm>
          <a:prstGeom prst="roundRect">
            <a:avLst/>
          </a:prstGeom>
          <a:solidFill>
            <a:srgbClr val="EB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03520" y="5413248"/>
            <a:ext cx="530352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5376672"/>
            <a:ext cx="7315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0D7A82"/>
                </a:solidFill>
                <a:latin typeface="Times New Roman"/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S     C     R     E     E     N     S     H     O     T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Live Application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19072"/>
            <a:ext cx="4974336" cy="1673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User Authentication &amp; Role Selector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1645920"/>
            <a:ext cx="51206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87" y="1719072"/>
            <a:ext cx="4974336" cy="1673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39535" y="3383280"/>
            <a:ext cx="51206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Research Laboratory Dashboard (MERN)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_experiment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50791"/>
            <a:ext cx="4974336" cy="16733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5714999"/>
            <a:ext cx="51206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Protocol Version Detail &amp; SHA-256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9535" y="3977639"/>
            <a:ext cx="51206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_recipe_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687" y="4050791"/>
            <a:ext cx="4974336" cy="16733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39535" y="5714999"/>
            <a:ext cx="51206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1300" b="1">
                <a:solidFill>
                  <a:srgbClr val="0D7A82"/>
                </a:solidFill>
                <a:latin typeface="Times New Roman"/>
              </a:defRPr>
            </a:pPr>
            <a:r>
              <a:t>Batch Stoichiometry &amp; Scaling Calculator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C     H     A     L     L     E     N     G     E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Challenges Faced &amp; Solutions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613855"/>
              </a:tblGrid>
              <a:tr h="822960"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Technical Challenge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Solution Adopted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Database Schema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Migrated to Mongoose documents with ObjectId referencing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Version Immutability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Implemented canonical JSON SHA-256 hash calculation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Stoichiometric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Used decimal rounding utilities to prevent floating-point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Theme Persistence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Saved theme state in localStorage to prevent theme flicker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I     M     P     R     O     V     E     M     E     N     T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Key Improvements &amp; Enhancements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System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121408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l">
              <a:defRPr sz="1450" b="1">
                <a:solidFill>
                  <a:srgbClr val="141E2D"/>
                </a:solidFill>
                <a:latin typeface="Times New Roman"/>
              </a:defRPr>
            </a:pPr>
            <a:r>
              <a:t>1. Certified PDF Protocol Report Export </a:t>
            </a:r>
            <a:r>
              <a:rPr sz="1150" b="1">
                <a:solidFill>
                  <a:srgbClr val="00A896"/>
                </a:solidFill>
                <a:latin typeface="Times New Roman"/>
              </a:rPr>
              <a:t>[IMPLEMENTED]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Engineered using jsPDF &amp; AutoTable in `client/src/utils/pdfExport.ts`.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1-click generation of official, publication-grade laboratory run sheets.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Embedded SHA-256 seal, 2D QR validation code, CQA steps, stoichiometry table, and electronic signature block.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2121408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l">
              <a:defRPr sz="1450" b="1">
                <a:solidFill>
                  <a:srgbClr val="141E2D"/>
                </a:solidFill>
                <a:latin typeface="Times New Roman"/>
              </a:defRPr>
            </a:pPr>
            <a:r>
              <a:t>2. 2D Barcode &amp; QR Reagent Station </a:t>
            </a:r>
            <a:r>
              <a:rPr sz="1150" b="1">
                <a:solidFill>
                  <a:srgbClr val="00A896"/>
                </a:solidFill>
                <a:latin typeface="Times New Roman"/>
              </a:rPr>
              <a:t>[IMPLEMENTED]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Interactive chemical scanner built in `client/src/components/BarcodeScannerModal.tsx`.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Simulates optical 2D DataMatrix scanning for reagent inventory bottles.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Automated lot/CAS lookup, shelf-life &amp; expiry calculator, safety alerts, and 1-click batch scaling import.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121408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l">
              <a:defRPr sz="1450" b="1">
                <a:solidFill>
                  <a:srgbClr val="141E2D"/>
                </a:solidFill>
                <a:latin typeface="Times New Roman"/>
              </a:defRPr>
            </a:pPr>
            <a:r>
              <a:t>3. Advanced Global Full-Text Search </a:t>
            </a:r>
            <a:r>
              <a:rPr sz="1150" b="1">
                <a:solidFill>
                  <a:srgbClr val="00A896"/>
                </a:solidFill>
                <a:latin typeface="Times New Roman"/>
              </a:rPr>
              <a:t>[IMPLEMENTED]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Unified laboratory search modal accessible instantly via `Ctrl+K`.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Multi-field indexing across experiments, protocols, chemical formulas, CAS numbers, and audit logs.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Sub-millisecond indexed response time with real-time result highlighting.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121408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82880"/>
          <a:lstStyle/>
          <a:p>
            <a:pPr algn="l">
              <a:defRPr sz="1450" b="1">
                <a:solidFill>
                  <a:srgbClr val="141E2D"/>
                </a:solidFill>
                <a:latin typeface="Times New Roman"/>
              </a:defRPr>
            </a:pPr>
            <a:r>
              <a:t>4. Native MongoDB &amp; Atlas Architecture </a:t>
            </a:r>
            <a:r>
              <a:rPr sz="1150" b="1">
                <a:solidFill>
                  <a:srgbClr val="00A896"/>
                </a:solidFill>
                <a:latin typeface="Times New Roman"/>
              </a:rPr>
              <a:t>[IMPLEMENTED]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Native connection to local MongoDB instance (`mongodb://localhost:27017/bioscribe_eln`) &amp; Atlas.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High-performance compound indexing on { experimentId, version }.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▪   Eliminated virtualization latency for sub-50ms queries &amp; direct inspection via MongoDB Compass.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7A82"/>
                </a:solidFill>
                <a:latin typeface="Times New Roman"/>
              </a:defRPr>
            </a:pPr>
            <a:r>
              <a:t>R     E     F     E     R     E     N     C     E   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41E2D"/>
                </a:solidFill>
                <a:latin typeface="Times New Roman"/>
              </a:defRPr>
            </a:pPr>
            <a:r>
              <a:t>References &amp; 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2412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BioScribe ELN  |  MERN Stack Project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814255"/>
              </a:tblGrid>
              <a:tr h="822960"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Reference Citation</a:t>
                      </a:r>
                    </a:p>
                  </a:txBody>
                  <a:tcPr anchor="ctr">
                    <a:solidFill>
                      <a:srgbClr val="0D7A8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MongoDB, Express.js, React.js, and Node.js Official Documentation (2025).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IEEE Transactions on Software Engineering &amp; Scientific Data Management.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Modern Full-Stack Development with MERN Architecture textbooks.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141E2D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Open-source libraries: Axios, Tailwind CSS, Lucide React, Mongoose ODM.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F4FAF8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 bIns="256032"/>
          <a:lstStyle/>
          <a:p>
            <a:pPr algn="ctr">
              <a:spcAft>
                <a:spcPts val="1400"/>
              </a:spcAft>
              <a:defRPr sz="4000" b="1">
                <a:solidFill>
                  <a:srgbClr val="0D7A82"/>
                </a:solidFill>
                <a:latin typeface="Times New Roman"/>
              </a:defRPr>
            </a:pPr>
            <a:r>
              <a:t>Thank You!</a:t>
            </a:r>
          </a:p>
          <a:p>
            <a:pPr algn="ctr">
              <a:spcAft>
                <a:spcPts val="1600"/>
              </a:spcAft>
              <a:defRPr sz="2200" b="1">
                <a:solidFill>
                  <a:srgbClr val="141E2D"/>
                </a:solidFill>
                <a:latin typeface="Times New Roman"/>
              </a:defRPr>
            </a:pPr>
            <a:r>
              <a:t>BIOSCRIBE ELECTRONIC LABORATORY NOTEBOOK (ELN)</a:t>
            </a:r>
            <a:br/>
            <a:r>
              <a:t>A MERN Stack Research &amp; Batch Formulation Platform</a:t>
            </a:r>
          </a:p>
          <a:p>
            <a:pPr algn="ctr">
              <a:spcAft>
                <a:spcPts val="1600"/>
              </a:spcAft>
              <a:defRPr sz="1800" b="1">
                <a:solidFill>
                  <a:srgbClr val="00A896"/>
                </a:solidFill>
                <a:latin typeface="Times New Roman"/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64748B"/>
                </a:solidFill>
                <a:latin typeface="Times New Roman"/>
              </a:defRPr>
            </a:pPr>
            <a:r>
              <a:t>Presented by: Kamalesh G (310624243074)</a:t>
            </a:r>
            <a:br/>
            <a:r>
              <a:t>Under the Guidance of: Ms. D S K Harshitha, Technical Trainer, AIADS</a:t>
            </a:r>
            <a:br/>
            <a:r>
              <a:t>Easwari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